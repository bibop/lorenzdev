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536191"/>
            <a:ext cx="2743200" cy="2743200"/>
          </a:xfrm>
          <a:prstGeom prst="ellipse">
            <a:avLst/>
          </a:prstGeom>
          <a:solidFill>
            <a:srgbClr val="0078D4">
              <a:lumMod val="70000"/>
              <a:lumOff val="30000"/>
            </a:srgbClr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0" y="1810511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TECHNOLOGY</a:t>
            </a:r>
            <a:br/>
            <a:r>
              <a:t>SUPPLY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633471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• ThyssenKrupp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2953511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• Hardt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3273551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• Zeleros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359359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• Swisspod</a:t>
            </a:r>
          </a:p>
        </p:txBody>
      </p:sp>
      <p:sp>
        <p:nvSpPr>
          <p:cNvPr id="8" name="Oval 7"/>
          <p:cNvSpPr/>
          <p:nvPr/>
        </p:nvSpPr>
        <p:spPr>
          <a:xfrm>
            <a:off x="7955280" y="1536191"/>
            <a:ext cx="2743200" cy="2743200"/>
          </a:xfrm>
          <a:prstGeom prst="ellipse">
            <a:avLst/>
          </a:prstGeom>
          <a:solidFill>
            <a:srgbClr val="107C41">
              <a:lumMod val="70000"/>
              <a:lumOff val="30000"/>
            </a:srgbClr>
          </a:solidFill>
          <a:ln w="254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10511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FINANCIAL</a:t>
            </a:r>
            <a:br/>
            <a:r>
              <a:t>STRUCTURING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633471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• UniCredit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53511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• Brookfield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273551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• Macquarie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59359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• EIB</a:t>
            </a:r>
          </a:p>
        </p:txBody>
      </p:sp>
      <p:sp>
        <p:nvSpPr>
          <p:cNvPr id="14" name="Oval 13"/>
          <p:cNvSpPr/>
          <p:nvPr/>
        </p:nvSpPr>
        <p:spPr>
          <a:xfrm>
            <a:off x="3931920" y="3950208"/>
            <a:ext cx="2743200" cy="2743200"/>
          </a:xfrm>
          <a:prstGeom prst="ellipse">
            <a:avLst/>
          </a:prstGeom>
          <a:solidFill>
            <a:srgbClr val="E8590C">
              <a:lumMod val="70000"/>
              <a:lumOff val="30000"/>
            </a:srgbClr>
          </a:solidFill>
          <a:ln w="25400">
            <a:solidFill>
              <a:srgbClr val="E85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4224528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04748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• Italferr</a:t>
            </a:r>
          </a:p>
        </p:txBody>
      </p:sp>
      <p:sp>
        <p:nvSpPr>
          <p:cNvPr id="17" name="Oval 16"/>
          <p:cNvSpPr/>
          <p:nvPr/>
        </p:nvSpPr>
        <p:spPr>
          <a:xfrm>
            <a:off x="7955280" y="3950208"/>
            <a:ext cx="2743200" cy="2743200"/>
          </a:xfrm>
          <a:prstGeom prst="ellipse">
            <a:avLst/>
          </a:prstGeom>
          <a:solidFill>
            <a:srgbClr val="881798">
              <a:lumMod val="70000"/>
              <a:lumOff val="30000"/>
            </a:srgbClr>
          </a:solidFill>
          <a:ln w="25400">
            <a:solidFill>
              <a:srgbClr val="8817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224528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PROJECT</a:t>
            </a:r>
            <a:br/>
            <a:r>
              <a:t>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04748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• WeBuild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3675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• Leonardo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6875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• Fastweb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6007607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• UniTo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3291840"/>
            <a:ext cx="1645920" cy="16459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hyper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474720"/>
            <a:ext cx="1280160" cy="1280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1E1E1E"/>
                </a:solidFill>
              </a:defRPr>
            </a:pPr>
            <a:r>
              <a:t>HYPERWORKS ECOSYSTEM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77724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Strategic Partners &amp; Collaborators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